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6" d="100"/>
          <a:sy n="66" d="100"/>
        </p:scale>
        <p:origin x="576" y="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ciencedirect.com/science/article/abs/pii/S2211883723001004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www.nature.com/articles/s41598-026-43102-w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ncbi.nlm.nih.gov/pmc/articles/PMC10709483" TargetMode="External"/><Relationship Id="rId5" Type="http://schemas.openxmlformats.org/officeDocument/2006/relationships/hyperlink" Target="https://link.springer.com/article/10.1186/s12911-026-03542-w" TargetMode="External"/><Relationship Id="rId4" Type="http://schemas.openxmlformats.org/officeDocument/2006/relationships/hyperlink" Target="https://www.nature.com/articles/s41598-025-86418-9" TargetMode="External"/><Relationship Id="rId9" Type="http://schemas.openxmlformats.org/officeDocument/2006/relationships/hyperlink" Target="https://abdm.gov.in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akritisirohi/medi-grid-flow" TargetMode="External"/><Relationship Id="rId2" Type="http://schemas.openxmlformats.org/officeDocument/2006/relationships/hyperlink" Target="https://ai-care-flow-54.lovable.app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082230"/>
            <a:ext cx="5996491" cy="47153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S10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Develop an intelligent hospital resource-optimization system that dynamically allocates appointments, beds, diagnostic facilities, and medical staff according to changing patient demand.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MedTech/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BioTech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/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HealthTech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Team Name –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Error404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249382" y="1195948"/>
            <a:ext cx="5547260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Idea/Solution</a:t>
            </a: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software is a load-balancing grid for hospital capacity treating appointments, beds, diagnostic machines and staff as one shared pool across a network of hospitals.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 forecasting engine reads historical and seasonal patterns to predict patient demand per department, per hospital.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An optimization layer turns that prediction into a specific recommended action, reroute this booking, pre-hold this bed, batch these scans, add this shift before the threshold is crossed.</a:t>
            </a:r>
          </a:p>
          <a:p>
            <a:endParaRPr lang="en-US" sz="16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ERROR404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D9452F7-E5D1-4C40-9404-DBAE5950E4A7}"/>
              </a:ext>
            </a:extLst>
          </p:cNvPr>
          <p:cNvSpPr txBox="1"/>
          <p:nvPr/>
        </p:nvSpPr>
        <p:spPr>
          <a:xfrm>
            <a:off x="6046022" y="1355612"/>
            <a:ext cx="598247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Innovation and Uniqueness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Looks forward, not backward</a:t>
            </a:r>
            <a:r>
              <a:rPr lang="en-US" sz="1600" dirty="0"/>
              <a:t> : predicts demand instead of just reporting current occupancy.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Optimizes across hospitals, not within one</a:t>
            </a:r>
            <a:r>
              <a:rPr lang="en-US" sz="1600" dirty="0"/>
              <a:t> : most existing tools (including e-Hospital/ORS) manage a single building but it bridges the gap between a full hospital and an empty one two kilometers away through a shared, interoperable data layer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Seasonal disease intelligence</a:t>
            </a:r>
            <a:r>
              <a:rPr lang="en-US" sz="1600" dirty="0"/>
              <a:t> : recognizes recurring patterns like dengue season, flu or festival-related injury surges, and proactively recommends hospitals stock up on relevant staff, beds, and supplies before the surge hits.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One data layer, two use cases</a:t>
            </a:r>
            <a:r>
              <a:rPr lang="en-US" sz="1600" dirty="0"/>
              <a:t> : the same live resource database that powers everyday scheduling also powers urgent cases: when a patient needs immediate care, the system instantly identifies the nearest hospital with genuinely available capacity and an on-duty specialist, rather than defaulting to "nearest by distance" alone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A37D80-3FBB-4A89-A1E3-13C683AF674A}"/>
              </a:ext>
            </a:extLst>
          </p:cNvPr>
          <p:cNvSpPr txBox="1"/>
          <p:nvPr/>
        </p:nvSpPr>
        <p:spPr>
          <a:xfrm>
            <a:off x="249381" y="3922814"/>
            <a:ext cx="5547261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Problem Resolution</a:t>
            </a:r>
            <a:endParaRPr lang="en-US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Existing hospital systems function largely as static ledgers, reflecting current status with no predictive capability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software flags a likely spike in advance based on recurring demand patterns, giving staff time to act instead of react.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This directly prevents the core issue in the problem statement i.e., static resource allocation that can't keep up with changing patient demand.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ERROR404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A1685B3-E909-4CFB-B5AF-BCFE8A3AC8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7315" y="1338943"/>
            <a:ext cx="6527206" cy="4879297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E99F8A8B-2F62-4E69-8B98-9465AF4AB8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957" y="1278422"/>
            <a:ext cx="5420358" cy="477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React or Flutter enables a consistent, cross-platform interface for both the patient-facing application and the hospital administrative dashboard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Node.js or Django, with PostgreSQL as the relational database, handling core business logic and data persistence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Forecasting/AI: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Python, employing time-series forecasting models such as Prophet or ARIMA to predict demand patterns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synchronization: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WebSockets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 Firebase Cloud Messaging, ensuring bed, staff, and equipment status updates instantly across devices.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Integrations: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ABDM 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Ayushman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Bharat Digital Mission) APIs for patient health records; Aadhaar-based authentication for identity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ERROR404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C84D322-EA53-4876-97B4-E8CCB48864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773" y="1251017"/>
            <a:ext cx="4748413" cy="51398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defTabSz="914400" eaLnBrk="0" hangingPunct="0">
              <a:buFont typeface="Wingdings" panose="05000000000000000000" pitchFamily="2" charset="2"/>
              <a:buChar char="v"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itchFamily="34" charset="0"/>
                <a:cs typeface="Arial" pitchFamily="34" charset="0"/>
              </a:rPr>
              <a:t>Feasibility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defTabSz="914400" eaLnBrk="0" hangingPunct="0"/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Built on mature proven</a:t>
            </a:r>
            <a:r>
              <a:rPr lang="en-US" altLang="en-US" sz="1600" dirty="0"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technologies (Prophet/ARIMA, cloud backends, real-time sync) rather than experimental research.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Doesn't require replacing hospitals' existing systems instead use that data and work more efficiently.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start with one district's government hospitals, since they already report to a common health authority and have a natural reason to share data.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lvl="0" indent="-285750" defTabSz="914400" eaLnBrk="0" hangingPunct="0">
              <a:buFont typeface="Arial" panose="020B0604020202020204" pitchFamily="34" charset="0"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Aligns with </a:t>
            </a:r>
            <a:r>
              <a:rPr lang="en-US" altLang="en-US" sz="1600" dirty="0">
                <a:latin typeface="Arial" panose="020B0604020202020204" pitchFamily="34" charset="0"/>
              </a:rPr>
              <a:t>infrastructure, ABDM/NDHM,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government is already building 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reducing implementation overhead.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1C72BE-DA6A-4694-90DA-DCCCE1209BE7}"/>
              </a:ext>
            </a:extLst>
          </p:cNvPr>
          <p:cNvSpPr txBox="1"/>
          <p:nvPr/>
        </p:nvSpPr>
        <p:spPr>
          <a:xfrm>
            <a:off x="5208814" y="1168015"/>
            <a:ext cx="6653413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defTabSz="914400" eaLnBrk="0" hangingPunct="0">
              <a:buFont typeface="Wingdings" panose="05000000000000000000" pitchFamily="2" charset="2"/>
              <a:buChar char="v"/>
            </a:pPr>
            <a:r>
              <a:rPr lang="en-US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Potential challenges and strategies to overcome them</a:t>
            </a:r>
          </a:p>
          <a:p>
            <a:pPr defTabSz="914400" eaLnBrk="0" hangingPunct="0"/>
            <a:endParaRPr lang="en-US" altLang="en-US" dirty="0">
              <a:latin typeface="Arial" panose="020B0604020202020204" pitchFamily="34" charset="0"/>
            </a:endParaRPr>
          </a:p>
          <a:p>
            <a:pPr marL="342900" lvl="0" indent="-342900" defTabSz="914400" eaLnBrk="0" hangingPunct="0">
              <a:buSzPct val="90000"/>
              <a:buFont typeface="+mj-lt"/>
              <a:buAutoNum type="arabicPeriod"/>
            </a:pPr>
            <a:r>
              <a:rPr lang="en-US" altLang="en-US" sz="1600" b="1" dirty="0">
                <a:latin typeface="Arial" panose="020B0604020202020204" pitchFamily="34" charset="0"/>
              </a:rPr>
              <a:t>Data availability:</a:t>
            </a:r>
            <a:r>
              <a:rPr lang="en-US" altLang="en-US" sz="1600" dirty="0">
                <a:latin typeface="Arial" panose="020B0604020202020204" pitchFamily="34" charset="0"/>
              </a:rPr>
              <a:t> Historical hospital data is often non-digitized or inconsistently formatted, complicating model training. The model needs to be prototyped using open-access datasets while formal data-sharing agreements with hospitals are negotiated.</a:t>
            </a:r>
          </a:p>
          <a:p>
            <a:pPr marL="342900" lvl="0" indent="-342900" defTabSz="914400" eaLnBrk="0" hangingPunct="0">
              <a:buSzPct val="90000"/>
              <a:buFont typeface="+mj-lt"/>
              <a:buAutoNum type="arabicPeriod"/>
            </a:pPr>
            <a:r>
              <a:rPr lang="en-US" altLang="en-US" sz="1600" b="1" dirty="0">
                <a:latin typeface="Arial" panose="020B0604020202020204" pitchFamily="34" charset="0"/>
              </a:rPr>
              <a:t>Hospital reluctance to share data:</a:t>
            </a:r>
            <a:r>
              <a:rPr lang="en-US" altLang="en-US" sz="1600" dirty="0">
                <a:latin typeface="Arial" panose="020B0604020202020204" pitchFamily="34" charset="0"/>
              </a:rPr>
              <a:t> Hospitals may be reluctant to share live resource data, for competitive (private) or bureaucratic (public) reasons. Roll out district-by-district under government sponsorship, using existing administrative hierarchies rather than requiring individual opt-in </a:t>
            </a:r>
          </a:p>
          <a:p>
            <a:pPr marL="342900" lvl="0" indent="-342900" defTabSz="914400" eaLnBrk="0" hangingPunct="0">
              <a:buSzPct val="90000"/>
              <a:buFont typeface="+mj-lt"/>
              <a:buAutoNum type="arabicPeriod"/>
            </a:pPr>
            <a:r>
              <a:rPr lang="en-US" altLang="en-US" sz="1600" b="1" dirty="0">
                <a:latin typeface="Arial" panose="020B0604020202020204" pitchFamily="34" charset="0"/>
              </a:rPr>
              <a:t>Forecasting errors:</a:t>
            </a:r>
            <a:r>
              <a:rPr lang="en-US" altLang="en-US" sz="1600" dirty="0">
                <a:latin typeface="Arial" panose="020B0604020202020204" pitchFamily="34" charset="0"/>
              </a:rPr>
              <a:t> Predictive models are inherently imperfect and could cause conflicts at the point of care if treated as certain. Treat predictions as ranges with buffer margins, not fixed promises. </a:t>
            </a:r>
          </a:p>
          <a:p>
            <a:pPr marL="342900" lvl="0" indent="-342900" defTabSz="914400" eaLnBrk="0" hangingPunct="0">
              <a:buSzPct val="90000"/>
              <a:buFont typeface="+mj-lt"/>
              <a:buAutoNum type="arabicPeriod"/>
            </a:pPr>
            <a:r>
              <a:rPr lang="en-US" altLang="en-US" sz="1600" b="1" dirty="0">
                <a:latin typeface="Arial" panose="020B0604020202020204" pitchFamily="34" charset="0"/>
              </a:rPr>
              <a:t>Staff adoption:</a:t>
            </a:r>
            <a:r>
              <a:rPr lang="en-US" altLang="en-US" sz="1600" dirty="0">
                <a:latin typeface="Arial" panose="020B0604020202020204" pitchFamily="34" charset="0"/>
              </a:rPr>
              <a:t> The system's real-time accuracy depends on staff consistently entering live updates, which is an adoption challenge, not just a technical one. Keep the interface minimal-friction (single-tap updates) paired with basic staff training.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ERROR404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DE03009C-B372-4A9C-BF66-FF63970DF7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361029"/>
            <a:ext cx="10847614" cy="45397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Shorter wait times and better-matched hospital visits, with less risk of being turned away from an overcrowded facility.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Less scrambling during demand spikes, with better visibility to plan shifts and resources in advance.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Real-time, district-level visibility into hospital load, valuable during outbreaks and seasonal surges 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Improves equitable access to timely care, especially for migrants, rural patients, or the elderly unfamiliar with the local hospital network.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Reduces resource wastage through fewer idle machines and empty beds, and lowers overtime costs from better staff utilization.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Enables data-driven planning, letting authorities invest in infrastructure and staffing based on evidence, not guesswork 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Reduces unnecessary patient travel and equipment over-purchase through better utilization. 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ERROR404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AD47309B-5E0D-4E73-9FF0-C226EC59BA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3555" y="1359451"/>
            <a:ext cx="10353290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4"/>
              </a:rPr>
              <a:t>https://www.nature.com/articles/s41598-025-86418-9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en-US" altLang="en-US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bed occupancy forecasting)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5"/>
              </a:rPr>
              <a:t>https://link.springer.com/article/10.1186/s12911-026-03542-w</a:t>
            </a:r>
            <a:r>
              <a:rPr kumimoji="0" lang="en-US" altLang="en-US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(Prophet model for bed forecasting)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6"/>
              </a:rPr>
              <a:t>https://www.ncbi.nlm.nih.gov/pmc/articles/PMC10709483</a:t>
            </a:r>
            <a:r>
              <a:rPr kumimoji="0" lang="en-US" altLang="en-US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(ML + optimization for bed assignment)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7"/>
              </a:rPr>
              <a:t>https://www.nature.com/articles/s41598-026-43102-w</a:t>
            </a:r>
            <a:r>
              <a:rPr kumimoji="0" lang="en-US" altLang="en-US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(AI-driven staff scheduling and workforce forecasting)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8"/>
              </a:rPr>
              <a:t>https://www.sciencedirect.com/science/article/abs/pii/S2211883723001004</a:t>
            </a:r>
            <a:r>
              <a:rPr kumimoji="0" lang="en-US" altLang="en-US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(AI for patient/appointment scheduling)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9"/>
              </a:rPr>
              <a:t>https://abdm.gov.in</a:t>
            </a:r>
            <a:r>
              <a:rPr kumimoji="0" lang="en-US" altLang="en-US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(government interoperability framework) 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79B15-3ADA-4962-9FCF-5E47E8B292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 defTabSz="914400">
              <a:buFont typeface="Wingdings" panose="05000000000000000000" pitchFamily="2" charset="2"/>
              <a:buChar char="v"/>
            </a:pPr>
            <a:r>
              <a:rPr lang="en-US" altLang="en-US" sz="1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Live Prototype: </a:t>
            </a:r>
          </a:p>
          <a:p>
            <a:pPr marL="285750" indent="-285750" defTabSz="914400">
              <a:buFont typeface="Wingdings" panose="05000000000000000000" pitchFamily="2" charset="2"/>
              <a:buChar char="v"/>
            </a:pPr>
            <a:endParaRPr lang="en-US" altLang="en-US" sz="18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0" indent="0" defTabSz="914400">
              <a:buNone/>
            </a:pPr>
            <a:r>
              <a:rPr lang="en-US" altLang="en-US" sz="1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                                  </a:t>
            </a:r>
            <a:r>
              <a:rPr lang="en-US" altLang="en-US" sz="1800" b="1" u="sng" dirty="0">
                <a:latin typeface="Arial" panose="020B0604020202020204" pitchFamily="34" charset="0"/>
                <a:hlinkClick r:id="rId2"/>
              </a:rPr>
              <a:t>https://ai-care-flow-54.lovable.app/</a:t>
            </a:r>
            <a:r>
              <a:rPr lang="en-US" altLang="en-US" sz="1800" b="1" u="sng" dirty="0">
                <a:latin typeface="Arial" panose="020B0604020202020204" pitchFamily="34" charset="0"/>
              </a:rPr>
              <a:t> </a:t>
            </a:r>
            <a:r>
              <a:rPr lang="en-US" altLang="en-US" sz="1800" b="1" dirty="0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  </a:t>
            </a:r>
          </a:p>
          <a:p>
            <a:pPr marL="285750" indent="-285750" defTabSz="914400">
              <a:buFont typeface="Wingdings" panose="05000000000000000000" pitchFamily="2" charset="2"/>
              <a:buChar char="v"/>
            </a:pPr>
            <a:endParaRPr lang="en-US" altLang="en-US" sz="1800" b="1" dirty="0">
              <a:solidFill>
                <a:schemeClr val="tx2"/>
              </a:solidFill>
              <a:latin typeface="Arial" panose="020B0604020202020204" pitchFamily="34" charset="0"/>
              <a:cs typeface="Arial" pitchFamily="34" charset="0"/>
            </a:endParaRPr>
          </a:p>
          <a:p>
            <a:pPr marL="0" indent="0" defTabSz="914400">
              <a:buNone/>
            </a:pPr>
            <a:r>
              <a:rPr lang="en-US" altLang="en-US" sz="1800" b="1" dirty="0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   </a:t>
            </a:r>
          </a:p>
          <a:p>
            <a:pPr marL="285750" indent="-285750" defTabSz="914400">
              <a:buFont typeface="Wingdings" panose="05000000000000000000" pitchFamily="2" charset="2"/>
              <a:buChar char="v"/>
            </a:pPr>
            <a:r>
              <a:rPr lang="en-US" altLang="en-US" sz="1800" b="1" dirty="0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GitHub Repository:</a:t>
            </a:r>
          </a:p>
          <a:p>
            <a:pPr marL="0" indent="0" defTabSz="914400">
              <a:buNone/>
            </a:pPr>
            <a:r>
              <a:rPr lang="en-US" altLang="en-US" sz="1800" b="1" dirty="0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   </a:t>
            </a:r>
          </a:p>
          <a:p>
            <a:pPr marL="0" indent="0" defTabSz="914400">
              <a:buNone/>
            </a:pPr>
            <a:r>
              <a:rPr lang="en-US" altLang="en-US" sz="1800" b="1" dirty="0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                                  </a:t>
            </a:r>
            <a:r>
              <a:rPr lang="en-US" altLang="en-US" sz="1800" b="1" dirty="0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  <a:hlinkClick r:id="rId3"/>
              </a:rPr>
              <a:t>https://github.com/aakritisirohi/medi-grid-flow</a:t>
            </a:r>
            <a:r>
              <a:rPr lang="en-US" altLang="en-US" sz="1800" b="1" dirty="0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</a:p>
          <a:p>
            <a:pPr marL="0" indent="0" defTabSz="914400">
              <a:buNone/>
            </a:pPr>
            <a:r>
              <a:rPr lang="en-US" altLang="en-US" sz="1800" b="1" dirty="0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                                  </a:t>
            </a:r>
            <a:endParaRPr lang="en-US" altLang="en-US" sz="1600" b="1" u="sng" dirty="0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073F1E-C165-4BFE-BB9E-45E00F50E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48B95C-3D1E-46F9-9879-3A0799A5B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9308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7737</TotalTime>
  <Words>1032</Words>
  <Application>Microsoft Office PowerPoint</Application>
  <PresentationFormat>Widescreen</PresentationFormat>
  <Paragraphs>113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 </cp:lastModifiedBy>
  <cp:revision>167</cp:revision>
  <dcterms:created xsi:type="dcterms:W3CDTF">2013-12-12T18:46:50Z</dcterms:created>
  <dcterms:modified xsi:type="dcterms:W3CDTF">2026-09-19T13:38:02Z</dcterms:modified>
  <cp:category/>
</cp:coreProperties>
</file>